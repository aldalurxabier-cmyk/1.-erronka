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6" r:id="rId7"/>
    <p:sldId id="274" r:id="rId8"/>
    <p:sldId id="277" r:id="rId9"/>
    <p:sldId id="278" r:id="rId10"/>
    <p:sldId id="279" r:id="rId11"/>
    <p:sldId id="280" r:id="rId12"/>
    <p:sldId id="281" r:id="rId13"/>
    <p:sldId id="282" r:id="rId14"/>
    <p:sldId id="292" r:id="rId15"/>
    <p:sldId id="283" r:id="rId16"/>
    <p:sldId id="284" r:id="rId17"/>
    <p:sldId id="285" r:id="rId18"/>
    <p:sldId id="286" r:id="rId19"/>
    <p:sldId id="287" r:id="rId20"/>
    <p:sldId id="261" r:id="rId21"/>
    <p:sldId id="263" r:id="rId22"/>
    <p:sldId id="264" r:id="rId23"/>
    <p:sldId id="265" r:id="rId24"/>
    <p:sldId id="266" r:id="rId25"/>
    <p:sldId id="268" r:id="rId26"/>
    <p:sldId id="269" r:id="rId27"/>
    <p:sldId id="270" r:id="rId28"/>
    <p:sldId id="271" r:id="rId29"/>
    <p:sldId id="272" r:id="rId30"/>
    <p:sldId id="288" r:id="rId31"/>
    <p:sldId id="289" r:id="rId32"/>
    <p:sldId id="290" r:id="rId33"/>
    <p:sldId id="291" r:id="rId34"/>
    <p:sldId id="293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FBB9AE13-C2BF-4169-87C5-737B90770B54}">
          <p14:sldIdLst>
            <p14:sldId id="256"/>
            <p14:sldId id="257"/>
            <p14:sldId id="258"/>
            <p14:sldId id="259"/>
            <p14:sldId id="260"/>
            <p14:sldId id="276"/>
            <p14:sldId id="274"/>
            <p14:sldId id="277"/>
            <p14:sldId id="278"/>
            <p14:sldId id="279"/>
            <p14:sldId id="280"/>
            <p14:sldId id="281"/>
            <p14:sldId id="282"/>
            <p14:sldId id="292"/>
            <p14:sldId id="283"/>
            <p14:sldId id="284"/>
            <p14:sldId id="285"/>
            <p14:sldId id="286"/>
            <p14:sldId id="287"/>
            <p14:sldId id="261"/>
            <p14:sldId id="263"/>
            <p14:sldId id="264"/>
            <p14:sldId id="265"/>
            <p14:sldId id="266"/>
            <p14:sldId id="268"/>
            <p14:sldId id="269"/>
            <p14:sldId id="270"/>
            <p14:sldId id="271"/>
            <p14:sldId id="272"/>
            <p14:sldId id="288"/>
            <p14:sldId id="289"/>
            <p14:sldId id="290"/>
            <p14:sldId id="291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30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30/10/2026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953" y="3429000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dirty="0"/>
              <a:t>Markatze lengoaiak</a:t>
            </a:r>
            <a:endParaRPr lang="eu-ES" noProof="0" dirty="0"/>
          </a:p>
        </p:txBody>
      </p:sp>
    </p:spTree>
    <p:extLst>
      <p:ext uri="{BB962C8B-B14F-4D97-AF65-F5344CB8AC3E}">
        <p14:creationId xmlns:p14="http://schemas.microsoft.com/office/powerpoint/2010/main" val="3795283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2357" y="143283"/>
            <a:ext cx="7261460" cy="997974"/>
          </a:xfrm>
        </p:spPr>
        <p:txBody>
          <a:bodyPr/>
          <a:lstStyle/>
          <a:p>
            <a:r>
              <a:rPr lang="eu-ES" sz="3200" b="1" dirty="0"/>
              <a:t>MARKATZE LENGOAIAK</a:t>
            </a:r>
            <a:endParaRPr lang="eu-ES" sz="3200" b="1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148" y="2890565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Web-orriak sortzeko, kodea idazteko eta gure proiektua modu antolatuan garatzeko.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79205" y="1793515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/>
              <a:t>VSC </a:t>
            </a:r>
            <a:r>
              <a:rPr lang="eu-ES" sz="2000" noProof="0" dirty="0"/>
              <a:t>erabili dugu.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525DACA-68AB-4D8D-80B3-705E311C8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644" y="2709413"/>
            <a:ext cx="2674966" cy="267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6158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</a:t>
            </a:r>
            <a:r>
              <a:rPr lang="eu-ES" dirty="0"/>
              <a:t>VSC-</a:t>
            </a:r>
            <a:r>
              <a:rPr lang="eu-ES" dirty="0" err="1"/>
              <a:t>en</a:t>
            </a:r>
            <a:r>
              <a:rPr lang="eu-ES" noProof="0" dirty="0"/>
              <a:t>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dirty="0"/>
              <a:t>HTML</a:t>
            </a:r>
            <a:endParaRPr lang="eu-ES" sz="2000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Web-orrialdearen kodea</a:t>
            </a:r>
          </a:p>
          <a:p>
            <a:endParaRPr lang="eu-ES" noProof="0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dirty="0"/>
              <a:t>CSS</a:t>
            </a:r>
            <a:endParaRPr lang="eu-ES" sz="2000" noProof="0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Web-orrialdeari estiloa </a:t>
            </a:r>
            <a:r>
              <a:rPr lang="eu-ES" noProof="0" dirty="0" err="1"/>
              <a:t>hematea</a:t>
            </a:r>
            <a:endParaRPr lang="eu-ES" noProof="0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dirty="0" err="1"/>
              <a:t>MarkDown</a:t>
            </a:r>
            <a:endParaRPr lang="eu-ES" sz="2000" noProof="0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s-ES" dirty="0" err="1"/>
              <a:t>Talde-dokumentazioa</a:t>
            </a:r>
            <a:r>
              <a:rPr lang="es-ES" dirty="0"/>
              <a:t> </a:t>
            </a:r>
            <a:r>
              <a:rPr lang="es-ES" dirty="0" err="1"/>
              <a:t>Markdown</a:t>
            </a:r>
            <a:r>
              <a:rPr lang="es-ES" dirty="0"/>
              <a:t> </a:t>
            </a:r>
            <a:r>
              <a:rPr lang="es-ES" dirty="0" err="1"/>
              <a:t>formatuan</a:t>
            </a:r>
            <a:r>
              <a:rPr lang="es-ES" dirty="0"/>
              <a:t> </a:t>
            </a:r>
            <a:r>
              <a:rPr lang="es-ES" dirty="0" err="1"/>
              <a:t>idaztea</a:t>
            </a:r>
            <a:r>
              <a:rPr lang="es-ES" dirty="0"/>
              <a:t>.</a:t>
            </a:r>
            <a:endParaRPr lang="eu-ES" noProof="0" dirty="0"/>
          </a:p>
        </p:txBody>
      </p:sp>
      <p:pic>
        <p:nvPicPr>
          <p:cNvPr id="5122" name="Picture 2" descr="HTML - Wikipedia, la enciclopedia libre">
            <a:extLst>
              <a:ext uri="{FF2B5EF4-FFF2-40B4-BE49-F238E27FC236}">
                <a16:creationId xmlns:a16="http://schemas.microsoft.com/office/drawing/2014/main" id="{FEC6C2E1-8353-4435-AA4E-A4110C617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445" y="3110954"/>
            <a:ext cx="2432078" cy="2432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8D1CD14-BB76-4B78-8534-B302242A0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437" y="3190081"/>
            <a:ext cx="2152563" cy="254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Markdown - Wikipedia, la enciclopedia libre">
            <a:extLst>
              <a:ext uri="{FF2B5EF4-FFF2-40B4-BE49-F238E27FC236}">
                <a16:creationId xmlns:a16="http://schemas.microsoft.com/office/drawing/2014/main" id="{A8584BBE-1575-4B70-96CA-95B3108C8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1276" y="3495502"/>
            <a:ext cx="2449839" cy="1507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0328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noProof="0" dirty="0"/>
              <a:t>HTML KODEA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377C7C5E-3706-43B2-BB01-51B3E0CA3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42" y="1618515"/>
            <a:ext cx="7165571" cy="400117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5CC5DE0F-DAB6-4136-8E90-097DE51FAB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7923" y="1282574"/>
            <a:ext cx="4626135" cy="503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859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dirty="0"/>
              <a:t>CSS</a:t>
            </a:r>
            <a:r>
              <a:rPr lang="eu-ES" sz="3200" b="1" noProof="0" dirty="0"/>
              <a:t> KODEA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C9B5A72-C8B9-4A87-8673-5902D5F8B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04" y="1856061"/>
            <a:ext cx="5760721" cy="39439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E3E6EFE-A46D-4436-A539-1C1696D42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624" y="590204"/>
            <a:ext cx="3089581" cy="580228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B0E3CA9-D4A4-47BA-A6A4-C25B8826B3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104" y="1485131"/>
            <a:ext cx="2939935" cy="5146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166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7666" y="284600"/>
            <a:ext cx="7261460" cy="997974"/>
          </a:xfrm>
        </p:spPr>
        <p:txBody>
          <a:bodyPr/>
          <a:lstStyle/>
          <a:p>
            <a:r>
              <a:rPr lang="eu-ES" sz="3200" b="1" noProof="0" dirty="0"/>
              <a:t>WEB ORRIALDEA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7EFD850-A20D-4FEE-89F0-EBF122D1C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79" y="1438102"/>
            <a:ext cx="10393944" cy="4906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589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SAREAK</a:t>
            </a:r>
          </a:p>
        </p:txBody>
      </p:sp>
    </p:spTree>
    <p:extLst>
      <p:ext uri="{BB962C8B-B14F-4D97-AF65-F5344CB8AC3E}">
        <p14:creationId xmlns:p14="http://schemas.microsoft.com/office/powerpoint/2010/main" val="1169533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SAREAK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PATCH PANELA ETA KABLEA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ASCII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CRC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PSK2,ASK2,FSK2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MANCHESTER NORMALA/DIFERENTZIALA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WEB ZERBITZARIA ETA HARI GABEKO GAILUEN ARTEKO KONEXIOA</a:t>
            </a:r>
          </a:p>
          <a:p>
            <a:pPr marL="0" indent="0">
              <a:buNone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248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9E126F-F7DC-4B96-BC38-AF51F0533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3077" y="340822"/>
            <a:ext cx="5927617" cy="592974"/>
          </a:xfrm>
        </p:spPr>
        <p:txBody>
          <a:bodyPr/>
          <a:lstStyle/>
          <a:p>
            <a:pPr algn="ctr"/>
            <a:r>
              <a:rPr lang="es-ES" dirty="0"/>
              <a:t>PATCH PANEL ETA KABLEA</a:t>
            </a:r>
          </a:p>
        </p:txBody>
      </p:sp>
      <p:pic>
        <p:nvPicPr>
          <p:cNvPr id="1026" name="Picture 2" descr="Mi foto">
            <a:extLst>
              <a:ext uri="{FF2B5EF4-FFF2-40B4-BE49-F238E27FC236}">
                <a16:creationId xmlns:a16="http://schemas.microsoft.com/office/drawing/2014/main" id="{94F3A803-6608-4216-AA12-65FAE5C93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2" y="2236123"/>
            <a:ext cx="5563984" cy="4172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i foto">
            <a:extLst>
              <a:ext uri="{FF2B5EF4-FFF2-40B4-BE49-F238E27FC236}">
                <a16:creationId xmlns:a16="http://schemas.microsoft.com/office/drawing/2014/main" id="{AAEA7EA5-DE20-45D7-BE35-E4BAC61E3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0058" y="1745061"/>
            <a:ext cx="4942234" cy="4772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3555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ASCII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s-ES" sz="1600" b="1" dirty="0"/>
              <a:t>ASCII </a:t>
            </a:r>
            <a:r>
              <a:rPr lang="es-ES" sz="1600" dirty="0" err="1"/>
              <a:t>letrak</a:t>
            </a:r>
            <a:r>
              <a:rPr lang="es-ES" sz="1600" dirty="0"/>
              <a:t>, </a:t>
            </a:r>
            <a:r>
              <a:rPr lang="es-ES" sz="1600" dirty="0" err="1"/>
              <a:t>zenbakiak</a:t>
            </a:r>
            <a:r>
              <a:rPr lang="es-ES" sz="1600" dirty="0"/>
              <a:t> eta </a:t>
            </a:r>
            <a:r>
              <a:rPr lang="es-ES" sz="1600" dirty="0" err="1"/>
              <a:t>ikurrak</a:t>
            </a:r>
            <a:r>
              <a:rPr lang="es-ES" sz="1600" dirty="0"/>
              <a:t> </a:t>
            </a:r>
            <a:r>
              <a:rPr lang="es-ES" sz="1600" dirty="0" err="1"/>
              <a:t>ordenagailuan</a:t>
            </a:r>
            <a:r>
              <a:rPr lang="es-ES" sz="1600" dirty="0"/>
              <a:t> </a:t>
            </a:r>
            <a:r>
              <a:rPr lang="es-ES" sz="1600" dirty="0" err="1"/>
              <a:t>adierazteko</a:t>
            </a:r>
            <a:r>
              <a:rPr lang="es-ES" sz="1600" dirty="0"/>
              <a:t> </a:t>
            </a:r>
            <a:r>
              <a:rPr lang="es-ES" sz="1600" dirty="0" err="1"/>
              <a:t>erabiltzen</a:t>
            </a:r>
            <a:r>
              <a:rPr lang="es-ES" sz="1600" dirty="0"/>
              <a:t> den </a:t>
            </a:r>
            <a:r>
              <a:rPr lang="es-ES" sz="1600" dirty="0" err="1"/>
              <a:t>kodea</a:t>
            </a:r>
            <a:r>
              <a:rPr lang="es-ES" sz="1600" dirty="0"/>
              <a:t> da.</a:t>
            </a:r>
          </a:p>
        </p:txBody>
      </p:sp>
      <p:pic>
        <p:nvPicPr>
          <p:cNvPr id="2050" name="Picture 2" descr="Mi foto">
            <a:extLst>
              <a:ext uri="{FF2B5EF4-FFF2-40B4-BE49-F238E27FC236}">
                <a16:creationId xmlns:a16="http://schemas.microsoft.com/office/drawing/2014/main" id="{03332FF1-EF51-4256-B963-66F28AA48ED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4897" y="943777"/>
            <a:ext cx="4500252" cy="5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5AE2B8E-E6B7-422F-B3D3-0D5724D76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016" y="1799997"/>
            <a:ext cx="771633" cy="325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697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4" y="608215"/>
            <a:ext cx="3401064" cy="1447800"/>
          </a:xfrm>
        </p:spPr>
        <p:txBody>
          <a:bodyPr/>
          <a:lstStyle/>
          <a:p>
            <a:r>
              <a:rPr lang="es-ES" b="1" dirty="0"/>
              <a:t>CRC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3401063" cy="2895599"/>
          </a:xfrm>
        </p:spPr>
        <p:txBody>
          <a:bodyPr>
            <a:normAutofit/>
          </a:bodyPr>
          <a:lstStyle/>
          <a:p>
            <a:r>
              <a:rPr lang="es-ES" sz="1600" b="1" dirty="0"/>
              <a:t>CRC</a:t>
            </a:r>
            <a:r>
              <a:rPr lang="es-ES" sz="1600" dirty="0"/>
              <a:t>-a </a:t>
            </a:r>
            <a:r>
              <a:rPr lang="es-ES" sz="1600" dirty="0" err="1"/>
              <a:t>datuen</a:t>
            </a:r>
            <a:r>
              <a:rPr lang="es-ES" sz="1600" dirty="0"/>
              <a:t> </a:t>
            </a:r>
            <a:r>
              <a:rPr lang="es-ES" sz="1600" dirty="0" err="1"/>
              <a:t>transmisioan</a:t>
            </a:r>
            <a:r>
              <a:rPr lang="es-ES" sz="1600" dirty="0"/>
              <a:t> </a:t>
            </a:r>
            <a:r>
              <a:rPr lang="es-ES" sz="1600" dirty="0" err="1"/>
              <a:t>akatsak</a:t>
            </a:r>
            <a:r>
              <a:rPr lang="es-ES" sz="1600" dirty="0"/>
              <a:t> </a:t>
            </a:r>
            <a:r>
              <a:rPr lang="es-ES" sz="1600" dirty="0" err="1"/>
              <a:t>detektatzeko</a:t>
            </a:r>
            <a:r>
              <a:rPr lang="es-ES" sz="1600" dirty="0"/>
              <a:t> </a:t>
            </a:r>
            <a:r>
              <a:rPr lang="es-ES" sz="1600" dirty="0" err="1"/>
              <a:t>erabiltzen</a:t>
            </a:r>
            <a:r>
              <a:rPr lang="es-ES" sz="1600" dirty="0"/>
              <a:t> den </a:t>
            </a:r>
            <a:r>
              <a:rPr lang="es-ES" sz="1600" dirty="0" err="1"/>
              <a:t>metodoa</a:t>
            </a:r>
            <a:r>
              <a:rPr lang="es-ES" sz="1600" dirty="0"/>
              <a:t> da, </a:t>
            </a:r>
            <a:r>
              <a:rPr lang="es-ES" sz="1600" dirty="0" err="1"/>
              <a:t>datuak</a:t>
            </a:r>
            <a:r>
              <a:rPr lang="es-ES" sz="1600" dirty="0"/>
              <a:t> </a:t>
            </a:r>
            <a:r>
              <a:rPr lang="es-ES" sz="1600" dirty="0" err="1"/>
              <a:t>zuzen</a:t>
            </a:r>
            <a:r>
              <a:rPr lang="es-ES" sz="1600" dirty="0"/>
              <a:t> </a:t>
            </a:r>
            <a:r>
              <a:rPr lang="es-ES" sz="1600" dirty="0" err="1"/>
              <a:t>iritsi</a:t>
            </a:r>
            <a:r>
              <a:rPr lang="es-ES" sz="1600" dirty="0"/>
              <a:t> </a:t>
            </a:r>
            <a:r>
              <a:rPr lang="es-ES" sz="1600" dirty="0" err="1"/>
              <a:t>diren</a:t>
            </a:r>
            <a:r>
              <a:rPr lang="es-ES" sz="1600" dirty="0"/>
              <a:t> </a:t>
            </a:r>
            <a:r>
              <a:rPr lang="es-ES" sz="1600" dirty="0" err="1"/>
              <a:t>egiaztatzeko</a:t>
            </a:r>
            <a:r>
              <a:rPr lang="es-ES" sz="2000" dirty="0"/>
              <a:t>.</a:t>
            </a:r>
            <a:endParaRPr lang="es-ES" sz="16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0CA7711-7B51-432D-8F15-2D6962442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103" y="1684488"/>
            <a:ext cx="3458058" cy="371527"/>
          </a:xfrm>
          <a:prstGeom prst="rect">
            <a:avLst/>
          </a:prstGeom>
        </p:spPr>
      </p:pic>
      <p:pic>
        <p:nvPicPr>
          <p:cNvPr id="3074" name="Picture 2" descr="Mi foto">
            <a:extLst>
              <a:ext uri="{FF2B5EF4-FFF2-40B4-BE49-F238E27FC236}">
                <a16:creationId xmlns:a16="http://schemas.microsoft.com/office/drawing/2014/main" id="{12E6EB27-FBD3-4F67-9B23-44E19B032A8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168" y="0"/>
            <a:ext cx="5195888" cy="3133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i foto">
            <a:extLst>
              <a:ext uri="{FF2B5EF4-FFF2-40B4-BE49-F238E27FC236}">
                <a16:creationId xmlns:a16="http://schemas.microsoft.com/office/drawing/2014/main" id="{8082F3EF-1306-4A88-8250-5C9300FAA2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168" y="3133898"/>
            <a:ext cx="5195888" cy="3625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029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4" y="608215"/>
            <a:ext cx="3401064" cy="1447800"/>
          </a:xfrm>
        </p:spPr>
        <p:txBody>
          <a:bodyPr/>
          <a:lstStyle/>
          <a:p>
            <a:r>
              <a:rPr lang="es-ES" b="1" dirty="0"/>
              <a:t>PSK2,ASK2,FSK2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4073752" cy="2895599"/>
          </a:xfrm>
        </p:spPr>
        <p:txBody>
          <a:bodyPr>
            <a:normAutofit/>
          </a:bodyPr>
          <a:lstStyle/>
          <a:p>
            <a:r>
              <a:rPr lang="es-ES" sz="1600" b="1" dirty="0"/>
              <a:t>- ASK2: </a:t>
            </a:r>
            <a:r>
              <a:rPr lang="es-ES" sz="1600" dirty="0" err="1"/>
              <a:t>Uhinaren</a:t>
            </a:r>
            <a:r>
              <a:rPr lang="es-ES" sz="1600" dirty="0"/>
              <a:t> </a:t>
            </a:r>
            <a:r>
              <a:rPr lang="es-ES" sz="1600" dirty="0" err="1"/>
              <a:t>anplitudea</a:t>
            </a:r>
            <a:r>
              <a:rPr lang="es-ES" sz="1600" dirty="0"/>
              <a:t> (</a:t>
            </a:r>
            <a:r>
              <a:rPr lang="es-ES" sz="1600" dirty="0" err="1"/>
              <a:t>altuera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  <a:p>
            <a:r>
              <a:rPr lang="es-ES" sz="1600" b="1" dirty="0"/>
              <a:t>- FSK2: </a:t>
            </a:r>
            <a:r>
              <a:rPr lang="es-ES" sz="1600" dirty="0" err="1"/>
              <a:t>Uhinaren</a:t>
            </a:r>
            <a:r>
              <a:rPr lang="es-ES" sz="1600" dirty="0"/>
              <a:t> </a:t>
            </a:r>
            <a:r>
              <a:rPr lang="es-ES" sz="1600" dirty="0" err="1"/>
              <a:t>maiztasuna</a:t>
            </a:r>
            <a:r>
              <a:rPr lang="es-ES" sz="1600" dirty="0"/>
              <a:t> (</a:t>
            </a:r>
            <a:r>
              <a:rPr lang="es-ES" sz="1600" dirty="0" err="1"/>
              <a:t>uhin</a:t>
            </a:r>
            <a:r>
              <a:rPr lang="es-ES" sz="1600" dirty="0"/>
              <a:t> </a:t>
            </a:r>
            <a:r>
              <a:rPr lang="es-ES" sz="1600" dirty="0" err="1"/>
              <a:t>kopurua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  <a:p>
            <a:r>
              <a:rPr lang="es-ES" sz="1600" b="1" dirty="0"/>
              <a:t>- PSK2: </a:t>
            </a:r>
            <a:r>
              <a:rPr lang="es-ES" sz="1600" dirty="0" err="1"/>
              <a:t>Uhinaren</a:t>
            </a:r>
            <a:r>
              <a:rPr lang="es-ES" sz="1600" dirty="0"/>
              <a:t> fasea (</a:t>
            </a:r>
            <a:r>
              <a:rPr lang="es-ES" sz="1600" dirty="0" err="1"/>
              <a:t>hasierako</a:t>
            </a:r>
            <a:r>
              <a:rPr lang="es-ES" sz="1600" dirty="0"/>
              <a:t> </a:t>
            </a:r>
            <a:r>
              <a:rPr lang="es-ES" sz="1600" dirty="0" err="1"/>
              <a:t>posizioa</a:t>
            </a:r>
            <a:r>
              <a:rPr lang="es-ES" sz="1600" dirty="0"/>
              <a:t>) </a:t>
            </a:r>
            <a:r>
              <a:rPr lang="es-ES" sz="1600" dirty="0" err="1"/>
              <a:t>adierazten</a:t>
            </a:r>
            <a:r>
              <a:rPr lang="es-ES" sz="1600" dirty="0"/>
              <a:t> du.</a:t>
            </a:r>
          </a:p>
        </p:txBody>
      </p:sp>
      <p:pic>
        <p:nvPicPr>
          <p:cNvPr id="4098" name="Picture 2" descr="Mi foto">
            <a:extLst>
              <a:ext uri="{FF2B5EF4-FFF2-40B4-BE49-F238E27FC236}">
                <a16:creationId xmlns:a16="http://schemas.microsoft.com/office/drawing/2014/main" id="{CC99200E-A9DD-4026-B8BB-55D8D4AAC54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137" y="542384"/>
            <a:ext cx="4841571" cy="5773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970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03" y="608215"/>
            <a:ext cx="4010941" cy="1447800"/>
          </a:xfrm>
        </p:spPr>
        <p:txBody>
          <a:bodyPr/>
          <a:lstStyle/>
          <a:p>
            <a:r>
              <a:rPr lang="es-ES" b="1" dirty="0"/>
              <a:t>MANCHESTER NORMAL/DIFERENTZIALA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B552F90-F024-4CFB-901C-D79E3A3FA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1993" y="2326179"/>
            <a:ext cx="4073752" cy="2895599"/>
          </a:xfrm>
        </p:spPr>
        <p:txBody>
          <a:bodyPr>
            <a:normAutofit fontScale="92500"/>
          </a:bodyPr>
          <a:lstStyle/>
          <a:p>
            <a:r>
              <a:rPr lang="es-ES" sz="1600" b="1" dirty="0"/>
              <a:t>-MANCHESTER NORMALA:</a:t>
            </a:r>
          </a:p>
          <a:p>
            <a:r>
              <a:rPr lang="es-ES" sz="1600" dirty="0"/>
              <a:t>Bit </a:t>
            </a:r>
            <a:r>
              <a:rPr lang="es-ES" sz="1600" dirty="0" err="1"/>
              <a:t>bakoitzaren</a:t>
            </a:r>
            <a:r>
              <a:rPr lang="es-ES" sz="1600" dirty="0"/>
              <a:t> </a:t>
            </a:r>
            <a:r>
              <a:rPr lang="es-ES" sz="1600" dirty="0" err="1"/>
              <a:t>erdia</a:t>
            </a:r>
            <a:r>
              <a:rPr lang="es-ES" sz="1600" dirty="0"/>
              <a:t> </a:t>
            </a:r>
            <a:r>
              <a:rPr lang="es-ES" sz="1600" dirty="0" err="1"/>
              <a:t>trantzisio</a:t>
            </a:r>
            <a:r>
              <a:rPr lang="es-ES" sz="1600" dirty="0"/>
              <a:t> bat </a:t>
            </a:r>
            <a:r>
              <a:rPr lang="es-ES" sz="1600" dirty="0" err="1"/>
              <a:t>egiten</a:t>
            </a:r>
            <a:r>
              <a:rPr lang="es-ES" sz="1600" dirty="0"/>
              <a:t> da 0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bera</a:t>
            </a:r>
            <a:r>
              <a:rPr lang="es-ES" sz="1600" dirty="0"/>
              <a:t> </a:t>
            </a:r>
            <a:r>
              <a:rPr lang="es-ES" sz="1600" dirty="0" err="1"/>
              <a:t>doa</a:t>
            </a:r>
            <a:r>
              <a:rPr lang="es-ES" sz="1600" dirty="0"/>
              <a:t> eta 1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goruntz</a:t>
            </a:r>
            <a:r>
              <a:rPr lang="es-ES" sz="1600" dirty="0"/>
              <a:t>.</a:t>
            </a:r>
          </a:p>
          <a:p>
            <a:endParaRPr lang="es-ES" sz="1600" dirty="0"/>
          </a:p>
          <a:p>
            <a:endParaRPr lang="es-ES" sz="1600" dirty="0"/>
          </a:p>
          <a:p>
            <a:r>
              <a:rPr lang="es-ES" sz="1600" dirty="0"/>
              <a:t>-</a:t>
            </a:r>
            <a:r>
              <a:rPr lang="es-ES" sz="1600" b="1" dirty="0"/>
              <a:t>MANCHESTER DIFERENTZIALA:</a:t>
            </a:r>
          </a:p>
          <a:p>
            <a:r>
              <a:rPr lang="es-ES" sz="1600" dirty="0"/>
              <a:t>Bit </a:t>
            </a:r>
            <a:r>
              <a:rPr lang="es-ES" sz="1600" dirty="0" err="1"/>
              <a:t>bakoitzaren</a:t>
            </a:r>
            <a:r>
              <a:rPr lang="es-ES" sz="1600" dirty="0"/>
              <a:t> </a:t>
            </a:r>
            <a:r>
              <a:rPr lang="es-ES" sz="1600" dirty="0" err="1"/>
              <a:t>erdian</a:t>
            </a:r>
            <a:r>
              <a:rPr lang="es-ES" sz="1600" dirty="0"/>
              <a:t> </a:t>
            </a:r>
            <a:r>
              <a:rPr lang="es-ES" sz="1600" dirty="0" err="1"/>
              <a:t>trantzisio</a:t>
            </a:r>
            <a:r>
              <a:rPr lang="es-ES" sz="1600" dirty="0"/>
              <a:t> bat </a:t>
            </a:r>
            <a:r>
              <a:rPr lang="es-ES" sz="1600" dirty="0" err="1"/>
              <a:t>egiten</a:t>
            </a:r>
            <a:r>
              <a:rPr lang="es-ES" sz="1600" dirty="0"/>
              <a:t> da 0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narabidea</a:t>
            </a:r>
            <a:r>
              <a:rPr lang="es-ES" sz="1600" dirty="0"/>
              <a:t> </a:t>
            </a:r>
            <a:r>
              <a:rPr lang="es-ES" sz="1600" dirty="0" err="1"/>
              <a:t>ez</a:t>
            </a:r>
            <a:r>
              <a:rPr lang="es-ES" sz="1600" dirty="0"/>
              <a:t> da </a:t>
            </a:r>
            <a:r>
              <a:rPr lang="es-ES" sz="1600" dirty="0" err="1"/>
              <a:t>aldatzen</a:t>
            </a:r>
            <a:r>
              <a:rPr lang="es-ES" sz="1600" dirty="0"/>
              <a:t> eta 1 </a:t>
            </a:r>
            <a:r>
              <a:rPr lang="es-ES" sz="1600" dirty="0" err="1"/>
              <a:t>bada</a:t>
            </a:r>
            <a:r>
              <a:rPr lang="es-ES" sz="1600" dirty="0"/>
              <a:t> </a:t>
            </a:r>
            <a:r>
              <a:rPr lang="es-ES" sz="1600" dirty="0" err="1"/>
              <a:t>norabidea</a:t>
            </a:r>
            <a:r>
              <a:rPr lang="es-ES" sz="1600" dirty="0"/>
              <a:t> </a:t>
            </a:r>
            <a:r>
              <a:rPr lang="es-ES" sz="1600" dirty="0" err="1"/>
              <a:t>aldatzen</a:t>
            </a:r>
            <a:r>
              <a:rPr lang="es-ES" sz="1600" dirty="0"/>
              <a:t> da.</a:t>
            </a: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6170E924-8DD3-4D3A-9FA9-188261B3A0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74929" y="1791258"/>
            <a:ext cx="5195888" cy="1773651"/>
          </a:xfr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C950FFF-973B-4EEF-B3EB-36ABDA69F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929" y="3855136"/>
            <a:ext cx="5263739" cy="1773651"/>
          </a:xfrm>
          <a:prstGeom prst="rect">
            <a:avLst/>
          </a:prstGeom>
        </p:spPr>
      </p:pic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DEACAF16-D4B0-46DD-9D07-BCB089CC528A}"/>
              </a:ext>
            </a:extLst>
          </p:cNvPr>
          <p:cNvCxnSpPr/>
          <p:nvPr/>
        </p:nvCxnSpPr>
        <p:spPr>
          <a:xfrm>
            <a:off x="3217025" y="2585258"/>
            <a:ext cx="192024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57B42CCB-ABDD-4BED-98BC-C766A180FF20}"/>
              </a:ext>
            </a:extLst>
          </p:cNvPr>
          <p:cNvCxnSpPr/>
          <p:nvPr/>
        </p:nvCxnSpPr>
        <p:spPr>
          <a:xfrm>
            <a:off x="3217025" y="4181302"/>
            <a:ext cx="18454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180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622FD8-92CD-4399-ABB4-F14277FA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10" y="250767"/>
            <a:ext cx="9663597" cy="1447800"/>
          </a:xfrm>
        </p:spPr>
        <p:txBody>
          <a:bodyPr/>
          <a:lstStyle/>
          <a:p>
            <a:r>
              <a:rPr lang="es-ES" b="1" dirty="0"/>
              <a:t>WEB ZERBITZARIA ETA HARI GABEKO GAILUEN ARTEKO KONEXIOA</a:t>
            </a:r>
          </a:p>
        </p:txBody>
      </p:sp>
      <p:pic>
        <p:nvPicPr>
          <p:cNvPr id="6156" name="Picture 12" descr="Mi foto">
            <a:extLst>
              <a:ext uri="{FF2B5EF4-FFF2-40B4-BE49-F238E27FC236}">
                <a16:creationId xmlns:a16="http://schemas.microsoft.com/office/drawing/2014/main" id="{BDB01CD5-5D64-4DC0-BE3D-5272100604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719" y="1928553"/>
            <a:ext cx="9451571" cy="467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91947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40718273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Windows Server-en Instalazioa eta Oinarrizko Konfigurazioa (</a:t>
            </a:r>
            <a:r>
              <a:rPr lang="eu-ES" noProof="0" dirty="0" err="1"/>
              <a:t>VirtualBox</a:t>
            </a:r>
            <a:r>
              <a:rPr lang="eu-ES" noProof="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IP-a konfiguratu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politikak (Pasahitzak)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RAID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Sistemaren Rol-ak eta ezaugarriak gehitu (IIS, </a:t>
            </a:r>
            <a:r>
              <a:rPr lang="eu-ES" noProof="0" dirty="0" err="1"/>
              <a:t>iSCSI</a:t>
            </a:r>
            <a:r>
              <a:rPr lang="eu-ES" noProof="0" dirty="0"/>
              <a:t> eta Segurtasun kopiak)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Erabiltzaileak eta taldeak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Web Zerbitzaria (IIS)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Kopiak</a:t>
            </a:r>
          </a:p>
        </p:txBody>
      </p:sp>
    </p:spTree>
    <p:extLst>
      <p:ext uri="{BB962C8B-B14F-4D97-AF65-F5344CB8AC3E}">
        <p14:creationId xmlns:p14="http://schemas.microsoft.com/office/powerpoint/2010/main" val="1850726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9D6B9-CE8B-0901-C241-6F4CA177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FCDAB-423C-E90E-18C4-E1B0999F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87448-6213-7BED-CB8C-834563B8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noProof="0" dirty="0"/>
              <a:t>4GB RAM</a:t>
            </a:r>
          </a:p>
          <a:p>
            <a:pPr>
              <a:buFontTx/>
              <a:buChar char="-"/>
            </a:pPr>
            <a:r>
              <a:rPr lang="eu-ES" sz="1400" b="1" noProof="0" dirty="0"/>
              <a:t>4 CPU</a:t>
            </a:r>
          </a:p>
          <a:p>
            <a:pPr>
              <a:buFontTx/>
              <a:buChar char="-"/>
            </a:pPr>
            <a:r>
              <a:rPr lang="eu-ES" sz="1400" b="1" noProof="0" dirty="0"/>
              <a:t>50GB Diskoa (Sistema eragilea)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F8F5F40-08C2-1065-24D0-18E3DB8D3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u-ES" sz="2000" noProof="0" dirty="0"/>
              <a:t>1. Windows Server-en Instalazioa eta Oinarrizko Konfigurazioa (</a:t>
            </a:r>
            <a:r>
              <a:rPr lang="eu-ES" sz="2000" noProof="0" dirty="0" err="1"/>
              <a:t>VirtualBox</a:t>
            </a:r>
            <a:r>
              <a:rPr lang="eu-ES" sz="2000" noProof="0" dirty="0"/>
              <a:t>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E013BB24-A3B5-D1D6-53C0-D6444932DB42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Instalatu duguna:</a:t>
            </a:r>
          </a:p>
          <a:p>
            <a:pPr>
              <a:buFontTx/>
              <a:buChar char="-"/>
            </a:pPr>
            <a:r>
              <a:rPr lang="eu-ES" sz="1400" b="1" noProof="0" dirty="0"/>
              <a:t>Windows Server 2025 x64 es-ES4 CPU</a:t>
            </a:r>
          </a:p>
          <a:p>
            <a:pPr>
              <a:buFontTx/>
              <a:buChar char="-"/>
            </a:pPr>
            <a:r>
              <a:rPr lang="eu-ES" sz="1400" b="1" noProof="0" dirty="0" err="1"/>
              <a:t>Standard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Edition</a:t>
            </a:r>
            <a:r>
              <a:rPr lang="eu-ES" sz="1400" b="1" noProof="0" dirty="0"/>
              <a:t> (</a:t>
            </a:r>
            <a:r>
              <a:rPr lang="eu-ES" sz="1400" b="1" noProof="0" dirty="0" err="1"/>
              <a:t>Desktop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Experience</a:t>
            </a:r>
            <a:r>
              <a:rPr lang="eu-ES" sz="1400" b="1" noProof="0" dirty="0"/>
              <a:t>) / </a:t>
            </a:r>
            <a:r>
              <a:rPr lang="eu-ES" sz="1400" b="1" noProof="0" dirty="0" err="1"/>
              <a:t>Experiencia</a:t>
            </a:r>
            <a:r>
              <a:rPr lang="eu-ES" sz="1400" b="1" noProof="0" dirty="0"/>
              <a:t> de </a:t>
            </a:r>
            <a:r>
              <a:rPr lang="eu-ES" sz="1400" b="1" noProof="0" dirty="0" err="1"/>
              <a:t>escritorio</a:t>
            </a:r>
            <a:endParaRPr lang="eu-ES" sz="1400" b="1" noProof="0" dirty="0"/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39AC166-7267-0F5B-1984-30F06A759CC0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noProof="0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noProof="0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noProof="0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57330AB-8B9D-C201-478A-ED5E89E30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6DAF512-C1BB-D286-7497-E6007A7D9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5522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6CF1C-099D-C058-4E63-D634BA11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6F0EB-4AFF-4DD1-4441-6C23A9129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21E9E-BE89-384F-9D61-77828537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854146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IP FINKOA JARRI DIOGU: 192.168.0.10 (255.255.255.0 Maskara).</a:t>
            </a:r>
          </a:p>
          <a:p>
            <a:pPr marL="0" indent="0">
              <a:buNone/>
            </a:pPr>
            <a:r>
              <a:rPr lang="eu-ES" sz="1400" b="1" noProof="0" dirty="0"/>
              <a:t>ZERTARAKO? Zerbitzariak sarera konektatu bakoitzean IP ezberdina izan ez dezan.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B8A1D4-49A4-26D5-7FF0-B361CB7F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2. IP-a konfiguratu</a:t>
            </a:r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4EB918-8F44-4A3D-5589-4E385A310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729" y="2260111"/>
            <a:ext cx="4228296" cy="388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37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46009-C073-64E2-E57C-083FE3B8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CAC76-6343-F83B-4F87-59C2F76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86A67-F90D-4C32-D386-E0593643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657501" cy="2873642"/>
          </a:xfrm>
        </p:spPr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Gutxienez 8 karaktereko pasahitzak.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Azken 12 pasahitz gogoratuko dira (Historial de </a:t>
            </a:r>
            <a:r>
              <a:rPr lang="eu-ES" sz="2500" noProof="0" dirty="0" err="1"/>
              <a:t>contraseñas</a:t>
            </a:r>
            <a:r>
              <a:rPr lang="eu-ES" sz="2500" noProof="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Konplexutasuna bai (Karaktere berezien erabilera, maiuskulak eta zenbakiak erabili beharra).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60 egunean behin pasahitza aldatu behar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Pasahitza 5 aldiz jarraian gaizki sartzen bada, kontua 30 minutuz blokeatuta izango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Administratzailearen kontuan ere politika hauek eragina izatea ahalbidetu egin dugu.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889C4D-0C3F-3D89-6C11-7084BDB04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3. Segurtasun politikak (Pasahitzak)</a:t>
            </a:r>
          </a:p>
          <a:p>
            <a:endParaRPr lang="eu-ES" sz="2000" noProof="0" dirty="0"/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3CDB0D2-499A-9373-9E56-50A99A1AC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903" y="2445774"/>
            <a:ext cx="4242608" cy="37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6333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6787-DAB2-8D2D-625F-C2857D8A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E17B4-AFE0-CCA8-2EDD-5D0A44DDB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222A8F-7BD9-2A4F-D550-11FAA11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526792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Sortu dugun RAID = RAID 5</a:t>
            </a:r>
          </a:p>
          <a:p>
            <a:pPr>
              <a:buFontTx/>
              <a:buChar char="-"/>
            </a:pPr>
            <a:r>
              <a:rPr lang="eu-ES" sz="1400" b="1" dirty="0"/>
              <a:t>Hardwarea: 3 disko gogor, bakoitza 50GB </a:t>
            </a:r>
            <a:r>
              <a:rPr lang="eu-ES" sz="1400" b="1" dirty="0" err="1"/>
              <a:t>koa</a:t>
            </a:r>
            <a:endParaRPr lang="eu-ES" sz="1400" b="1" noProof="0" dirty="0"/>
          </a:p>
          <a:p>
            <a:pPr>
              <a:buFontTx/>
              <a:buChar char="-"/>
            </a:pPr>
            <a:r>
              <a:rPr lang="eu-ES" sz="1400" b="1" noProof="0" dirty="0"/>
              <a:t>3 diskoetatik 2ren memoria erabilgarri dugu (3.na </a:t>
            </a:r>
            <a:r>
              <a:rPr lang="eu-ES" sz="1400" b="1" noProof="0" dirty="0" err="1"/>
              <a:t>parietaterako</a:t>
            </a:r>
            <a:r>
              <a:rPr lang="eu-ES" sz="1400" b="1" noProof="0" dirty="0"/>
              <a:t> geratuko da.)</a:t>
            </a:r>
          </a:p>
          <a:p>
            <a:pPr>
              <a:buFontTx/>
              <a:buChar char="-"/>
            </a:pPr>
            <a:r>
              <a:rPr lang="eu-ES" sz="1400" b="1" noProof="0" dirty="0"/>
              <a:t>Disko 1 apurtzen bada, sistemak martxan jarraitu dezake datuak galdu gabe disko gogorra aldatu arte. (</a:t>
            </a:r>
            <a:r>
              <a:rPr lang="eu-ES" sz="1400" b="1" dirty="0"/>
              <a:t>Segurtasuna (</a:t>
            </a:r>
            <a:r>
              <a:rPr lang="eu-ES" sz="1400" b="1" dirty="0" err="1"/>
              <a:t>Parietatea</a:t>
            </a:r>
            <a:r>
              <a:rPr lang="eu-ES" sz="1400" b="1" dirty="0"/>
              <a:t>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7CC7C5A-C44C-B9CE-7A9C-D8E0076C4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dirty="0"/>
              <a:t>4</a:t>
            </a:r>
            <a:r>
              <a:rPr lang="eu-ES" sz="2000" noProof="0" dirty="0"/>
              <a:t>. RAID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95EDD8-B103-FE11-CCCD-5FC19E404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4223" y="2445774"/>
            <a:ext cx="4206732" cy="378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37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24BD-85D3-39DA-1F41-42156491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1441B-FF19-CF67-E5B5-12CA6170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755A1-7F9D-B071-D05C-6E3DAC10B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379307" cy="200332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u-ES" sz="1400" b="1" noProof="0" dirty="0"/>
          </a:p>
          <a:p>
            <a:pPr>
              <a:buFontTx/>
              <a:buChar char="-"/>
            </a:pPr>
            <a:r>
              <a:rPr lang="eu-ES" sz="2400" b="1" noProof="0" dirty="0"/>
              <a:t>IIS web zerbitzaria</a:t>
            </a:r>
          </a:p>
          <a:p>
            <a:pPr>
              <a:buFontTx/>
              <a:buChar char="-"/>
            </a:pPr>
            <a:r>
              <a:rPr lang="eu-ES" sz="2400" b="1" noProof="0" dirty="0" err="1"/>
              <a:t>Iscsi</a:t>
            </a:r>
            <a:r>
              <a:rPr lang="eu-ES" sz="2400" b="1" noProof="0" dirty="0"/>
              <a:t> (Karpeten kuoten administratzailea)</a:t>
            </a:r>
          </a:p>
          <a:p>
            <a:pPr>
              <a:buFontTx/>
              <a:buChar char="-"/>
            </a:pPr>
            <a:r>
              <a:rPr lang="eu-ES" sz="2400" b="1" noProof="0" dirty="0"/>
              <a:t>Windows </a:t>
            </a:r>
            <a:r>
              <a:rPr lang="eu-ES" sz="2400" b="1" noProof="0" dirty="0" err="1"/>
              <a:t>server</a:t>
            </a:r>
            <a:r>
              <a:rPr lang="eu-ES" sz="2400" b="1" noProof="0" dirty="0"/>
              <a:t> </a:t>
            </a:r>
            <a:r>
              <a:rPr lang="eu-ES" sz="2400" b="1" noProof="0" dirty="0" err="1"/>
              <a:t>backup</a:t>
            </a:r>
            <a:endParaRPr lang="eu-ES" sz="2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37D166-14B7-0CB9-191F-A17CC120F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dirty="0"/>
              <a:t>5</a:t>
            </a:r>
            <a:r>
              <a:rPr lang="eu-ES" sz="2000" noProof="0" dirty="0"/>
              <a:t>. Sistemaren Rol-ak eta ezaugarriak gehitu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43D234-A3DE-9FF8-A439-848D5F5BE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01" y="2445774"/>
            <a:ext cx="4113816" cy="384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532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2FF9-7914-2866-33B2-C14C49B0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EB4C0-C18E-1D27-E7DC-ABE9A570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7A1D9C-E1E2-F7CE-1E12-9123CEEF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65043"/>
            <a:ext cx="5716494" cy="246068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u-ES" sz="1800" b="1" dirty="0"/>
              <a:t>Erabiltzaileak eta taldeak:</a:t>
            </a:r>
          </a:p>
          <a:p>
            <a:pPr>
              <a:buFontTx/>
              <a:buChar char="-"/>
            </a:pPr>
            <a:r>
              <a:rPr lang="eu-ES" sz="1800" b="1" noProof="0" dirty="0"/>
              <a:t>Erabiltzaileak sortu.</a:t>
            </a:r>
          </a:p>
          <a:p>
            <a:pPr>
              <a:buFontTx/>
              <a:buChar char="-"/>
            </a:pPr>
            <a:r>
              <a:rPr lang="eu-ES" sz="1800" b="1" dirty="0"/>
              <a:t>Taldeak sortu.</a:t>
            </a:r>
          </a:p>
          <a:p>
            <a:pPr>
              <a:buFontTx/>
              <a:buChar char="-"/>
            </a:pPr>
            <a:r>
              <a:rPr lang="eu-ES" sz="1800" b="1" noProof="0" dirty="0"/>
              <a:t>Sortutako erabiltzaileak</a:t>
            </a:r>
          </a:p>
          <a:p>
            <a:pPr marL="0" indent="0">
              <a:buNone/>
            </a:pPr>
            <a:r>
              <a:rPr lang="eu-ES" sz="1800" b="1" noProof="0" dirty="0"/>
              <a:t>Zertarako? Baimenak ematerako garaian, talde oso bati baimenak ematea azkarragoa eta errazagoa delako, erabiltzaileei banaka ematea baino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7ED0D8-BFFB-C76D-EDB7-A17DDC2DA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5569011" cy="425245"/>
          </a:xfrm>
        </p:spPr>
        <p:txBody>
          <a:bodyPr>
            <a:normAutofit/>
          </a:bodyPr>
          <a:lstStyle/>
          <a:p>
            <a:r>
              <a:rPr lang="eu-ES" sz="2000" dirty="0"/>
              <a:t>6</a:t>
            </a:r>
            <a:r>
              <a:rPr lang="eu-ES" sz="2000" noProof="0" dirty="0"/>
              <a:t>. Erabiltzaileak eta taldeak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B5039B2-B3B7-F91E-D8FA-FC26D5851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2077" y="2005781"/>
            <a:ext cx="4609226" cy="398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140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C06A1-0A11-5EBB-8B99-4692DDAD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5EE06-213A-C39C-0EDD-C8D2479AA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A9E29D-F63B-03AA-915F-77ABFA4F8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105" y="3311012"/>
            <a:ext cx="5506387" cy="1981201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u-ES" sz="1800" b="1" noProof="0" dirty="0"/>
              <a:t>ISS ADMINSITRATZAILETIK KONFIGURATU </a:t>
            </a:r>
          </a:p>
          <a:p>
            <a:pPr>
              <a:buFontTx/>
              <a:buChar char="-"/>
            </a:pPr>
            <a:r>
              <a:rPr lang="eu-ES" sz="1800" b="1" noProof="0" dirty="0"/>
              <a:t>ZERBITZARIKO ERABILTZAILEEN BAIMENAK MUGATU + KANPOKO ERABILTZAILEEI BAIMENAK EMAN (IUSR)</a:t>
            </a:r>
          </a:p>
          <a:p>
            <a:pPr>
              <a:buFontTx/>
              <a:buChar char="-"/>
            </a:pPr>
            <a:r>
              <a:rPr lang="eu-ES" sz="1800" b="1" noProof="0" dirty="0"/>
              <a:t>FIREWALL SALBUESPENA JARRI (8080 PORTUA)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28AC23-126B-3A2A-1F84-443600B78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dirty="0"/>
              <a:t>7</a:t>
            </a:r>
            <a:r>
              <a:rPr lang="eu-ES" sz="2000" noProof="0" dirty="0"/>
              <a:t>. Web Zerbitzaria (IIS)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CC413D6-1A67-AA2C-808F-EA7A3D774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970" y="2140726"/>
            <a:ext cx="4162675" cy="381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412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402C1-1318-B7F7-BE32-9568E3DC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A6CD1-53D2-C1E0-A991-737210E1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B0347-A9ED-01A6-EECD-6ACAB9BA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3077496"/>
            <a:ext cx="10563798" cy="3062747"/>
          </a:xfrm>
        </p:spPr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100 GB-ko bolumen finkoa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Bolumen honetarako sarbidea </a:t>
            </a:r>
            <a:r>
              <a:rPr lang="eu-ES" b="1" noProof="0" dirty="0"/>
              <a:t>zerbitzariko administratzaileak bakarrik</a:t>
            </a:r>
            <a:r>
              <a:rPr lang="eu-ES" noProof="0" dirty="0"/>
              <a:t> izango du.</a:t>
            </a:r>
            <a:endParaRPr lang="eu-ES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Kopiatuko diren elementuak:</a:t>
            </a:r>
            <a:br>
              <a:rPr lang="eu-ES" noProof="0" dirty="0"/>
            </a:br>
            <a:endParaRPr lang="eu-ES" noProof="0" dirty="0"/>
          </a:p>
          <a:p>
            <a:pPr marL="0" indent="0">
              <a:buNone/>
            </a:pPr>
            <a:r>
              <a:rPr lang="eu-ES" noProof="0" dirty="0"/>
              <a:t>		`C:` Diskoa (Zerbitzariaren sistema eragilea eta konfigurazioak).</a:t>
            </a:r>
          </a:p>
          <a:p>
            <a:pPr marL="0" indent="0">
              <a:buNone/>
            </a:pPr>
            <a:r>
              <a:rPr lang="eu-ES" noProof="0" dirty="0"/>
              <a:t>		`E:` Diskoa (Enpresako fitxategi guztiak eta web orria gordetzen diren bolumena).</a:t>
            </a:r>
            <a:br>
              <a:rPr lang="eu-ES" noProof="0" dirty="0"/>
            </a:br>
            <a:endParaRPr lang="eu-E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Maiztasuna: </a:t>
            </a:r>
            <a:r>
              <a:rPr lang="eu-ES" noProof="0" dirty="0"/>
              <a:t>Kopiak </a:t>
            </a:r>
            <a:r>
              <a:rPr lang="eu-ES" b="1" noProof="0" dirty="0"/>
              <a:t>egunero</a:t>
            </a:r>
            <a:r>
              <a:rPr lang="eu-ES" noProof="0" dirty="0"/>
              <a:t> egingo dira automatikoki. Goizeko </a:t>
            </a:r>
            <a:r>
              <a:rPr lang="eu-ES" b="1" noProof="0" dirty="0"/>
              <a:t>03:00</a:t>
            </a:r>
            <a:r>
              <a:rPr lang="eu-ES" noProof="0" dirty="0"/>
              <a:t> </a:t>
            </a:r>
            <a:r>
              <a:rPr lang="eu-ES" noProof="0" dirty="0" err="1"/>
              <a:t>tan</a:t>
            </a:r>
            <a:r>
              <a:rPr lang="eu-ES" noProof="0" dirty="0"/>
              <a:t> egingo dira kopiak,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Mantentze-lana: </a:t>
            </a:r>
            <a:r>
              <a:rPr lang="eu-ES" noProof="0" dirty="0"/>
              <a:t>Informatikariak </a:t>
            </a:r>
            <a:r>
              <a:rPr lang="eu-ES" b="1" noProof="0" dirty="0"/>
              <a:t>egunero </a:t>
            </a:r>
            <a:r>
              <a:rPr lang="eu-ES" b="1" noProof="0" dirty="0" err="1"/>
              <a:t>errebisatu</a:t>
            </a:r>
            <a:r>
              <a:rPr lang="eu-ES" b="1" noProof="0" dirty="0"/>
              <a:t> eta egiaztatuko du</a:t>
            </a:r>
            <a:r>
              <a:rPr lang="eu-ES" noProof="0" dirty="0"/>
              <a:t> kopiak zuzen eta egitura egokiarekin egin direla.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CB4657-A40B-7750-9540-3C8EA93E3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dirty="0"/>
              <a:t>8</a:t>
            </a:r>
            <a:r>
              <a:rPr lang="eu-ES" sz="2000" noProof="0" dirty="0"/>
              <a:t>. Segurtasun Kopiak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611135C-0CFA-3F35-CD39-C5F030386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413" y="2039075"/>
            <a:ext cx="3052609" cy="1005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767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Datu baseak</a:t>
            </a:r>
          </a:p>
        </p:txBody>
      </p:sp>
    </p:spTree>
    <p:extLst>
      <p:ext uri="{BB962C8B-B14F-4D97-AF65-F5344CB8AC3E}">
        <p14:creationId xmlns:p14="http://schemas.microsoft.com/office/powerpoint/2010/main" val="1617450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502F2-AB70-4881-B3DA-0F139E8AA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F984B-A3FB-4C84-9258-5DD138107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771C351-BD1D-4EB6-AF90-DA15A3CB1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66256"/>
            <a:ext cx="12192000" cy="7414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235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DDD67-9540-437F-B353-7F29CC7E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220" y="319714"/>
            <a:ext cx="9404723" cy="1400530"/>
          </a:xfrm>
        </p:spPr>
        <p:txBody>
          <a:bodyPr/>
          <a:lstStyle/>
          <a:p>
            <a:r>
              <a:rPr lang="es-ES" sz="3000" b="1" dirty="0"/>
              <a:t>   EREDU ERLAZIONALA ETA FORMA NORMALAK</a:t>
            </a:r>
          </a:p>
        </p:txBody>
      </p:sp>
      <p:pic>
        <p:nvPicPr>
          <p:cNvPr id="1026" name="Picture 2" descr="Mi foto">
            <a:extLst>
              <a:ext uri="{FF2B5EF4-FFF2-40B4-BE49-F238E27FC236}">
                <a16:creationId xmlns:a16="http://schemas.microsoft.com/office/drawing/2014/main" id="{63CD2B71-CBAA-4C49-BB41-19B5FDBF363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2605" y="1131030"/>
            <a:ext cx="8167952" cy="5316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08673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DDD67-9540-437F-B353-7F29CC7E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220" y="319714"/>
            <a:ext cx="9404723" cy="1400530"/>
          </a:xfrm>
        </p:spPr>
        <p:txBody>
          <a:bodyPr/>
          <a:lstStyle/>
          <a:p>
            <a:r>
              <a:rPr lang="es-ES" sz="3000" b="1" dirty="0"/>
              <a:t>                                  ACCESS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A5282D4-1BD2-4E61-86EE-3EC24BEE34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331" y="2160062"/>
            <a:ext cx="5881829" cy="3351275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AE03E82-2B34-4B82-8BB2-3B959C545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686" y="945493"/>
            <a:ext cx="8897592" cy="114316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9BB4F6B-5573-487E-AC38-2014601B46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1967" y="2160063"/>
            <a:ext cx="6072621" cy="3351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678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E312B-0FF3-4511-BEFD-4913FF1FC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481" y="1924070"/>
            <a:ext cx="9404723" cy="1400530"/>
          </a:xfrm>
        </p:spPr>
        <p:txBody>
          <a:bodyPr/>
          <a:lstStyle/>
          <a:p>
            <a:r>
              <a:rPr lang="es-ES" dirty="0"/>
              <a:t>                   </a:t>
            </a:r>
            <a:r>
              <a:rPr lang="es-ES" sz="6700" dirty="0"/>
              <a:t>ESKERRIK ASKO</a:t>
            </a:r>
          </a:p>
        </p:txBody>
      </p:sp>
    </p:spTree>
    <p:extLst>
      <p:ext uri="{BB962C8B-B14F-4D97-AF65-F5344CB8AC3E}">
        <p14:creationId xmlns:p14="http://schemas.microsoft.com/office/powerpoint/2010/main" val="22046208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652</TotalTime>
  <Words>767</Words>
  <Application>Microsoft Office PowerPoint</Application>
  <PresentationFormat>Panorámica</PresentationFormat>
  <Paragraphs>131</Paragraphs>
  <Slides>34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Arial</vt:lpstr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  <vt:lpstr>Markatze lengoaiak</vt:lpstr>
      <vt:lpstr>MARKATZE LENGOAIAK</vt:lpstr>
      <vt:lpstr>ZER EGIN DUGU VSC-en?</vt:lpstr>
      <vt:lpstr>HTML KODEA</vt:lpstr>
      <vt:lpstr>CSS KODEA</vt:lpstr>
      <vt:lpstr>WEB ORRIALDEA</vt:lpstr>
      <vt:lpstr>SAREAK</vt:lpstr>
      <vt:lpstr>SAREAK </vt:lpstr>
      <vt:lpstr>PATCH PANEL ETA KABLEA</vt:lpstr>
      <vt:lpstr>ASCII</vt:lpstr>
      <vt:lpstr>CRC</vt:lpstr>
      <vt:lpstr>PSK2,ASK2,FSK2</vt:lpstr>
      <vt:lpstr>MANCHESTER NORMAL/DIFERENTZIALA</vt:lpstr>
      <vt:lpstr>WEB ZERBITZARIA ETA HARI GABEKO GAILUEN ARTEKO KONEXIOA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Datu baseak</vt:lpstr>
      <vt:lpstr>Presentación de PowerPoint</vt:lpstr>
      <vt:lpstr>   EREDU ERLAZIONALA ETA FORMA NORMALAK</vt:lpstr>
      <vt:lpstr>                                  ACCESS</vt:lpstr>
      <vt:lpstr>                   ESKERRIK ASKO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ERRONKA - INFORMAZIOAREN DIGITALIZAZIO WEBGUNEA</dc:title>
  <dc:creator>Aldalur Odriozola, Xabier</dc:creator>
  <cp:lastModifiedBy>Ortega Gutierrez, Iker</cp:lastModifiedBy>
  <cp:revision>25</cp:revision>
  <dcterms:created xsi:type="dcterms:W3CDTF">2026-10-27T09:27:25Z</dcterms:created>
  <dcterms:modified xsi:type="dcterms:W3CDTF">2026-10-30T10:40:00Z</dcterms:modified>
</cp:coreProperties>
</file>